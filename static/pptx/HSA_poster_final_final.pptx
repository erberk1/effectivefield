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21383625"/>
  <p:notesSz cx="402336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08"/>
    <p:restoredTop sz="94610"/>
  </p:normalViewPr>
  <p:slideViewPr>
    <p:cSldViewPr snapToGrid="0" snapToObjects="1">
      <p:cViewPr>
        <p:scale>
          <a:sx n="53" d="100"/>
          <a:sy n="53" d="100"/>
        </p:scale>
        <p:origin x="16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885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jpg"/><Relationship Id="rId50" Type="http://schemas.openxmlformats.org/officeDocument/2006/relationships/image" Target="../media/image4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jpe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6014" y="274320"/>
            <a:ext cx="29423317" cy="2211217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/home/claude/assets/halftone_red.png"/>
          <p:cNvPicPr>
            <a:picLocks noChangeAspect="1"/>
          </p:cNvPicPr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26170564" y="325015"/>
            <a:ext cx="3653056" cy="2109826"/>
          </a:xfrm>
          <a:prstGeom prst="rect">
            <a:avLst/>
          </a:prstGeom>
        </p:spPr>
      </p:pic>
      <p:pic>
        <p:nvPicPr>
          <p:cNvPr id="4" name="Image 1" descr="/home/claude/assets/logo_phys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980" y="305945"/>
            <a:ext cx="1838050" cy="1964148"/>
          </a:xfrm>
          <a:prstGeom prst="rect">
            <a:avLst/>
          </a:prstGeom>
        </p:spPr>
      </p:pic>
      <p:pic>
        <p:nvPicPr>
          <p:cNvPr id="5" name="Image 2" descr="/home/claude/assets/logo_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5585" y="564425"/>
            <a:ext cx="2059365" cy="168800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7988234" y="514218"/>
            <a:ext cx="7616416" cy="343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6161D"/>
                </a:solidFill>
                <a:latin typeface="Comic Neue" panose="02090604020004020304" pitchFamily="18" charset="77"/>
                <a:ea typeface="Arial" pitchFamily="34" charset="-122"/>
                <a:cs typeface="Arial" pitchFamily="34" charset="-120"/>
              </a:rPr>
              <a:t>Eren Erberk Erkul</a:t>
            </a:r>
            <a:endParaRPr lang="en-US" sz="2400" dirty="0">
              <a:latin typeface="American Typewriter" panose="02090604020004020304" pitchFamily="18" charset="77"/>
            </a:endParaRPr>
          </a:p>
        </p:txBody>
      </p:sp>
      <p:sp>
        <p:nvSpPr>
          <p:cNvPr id="9" name="Text 3"/>
          <p:cNvSpPr/>
          <p:nvPr/>
        </p:nvSpPr>
        <p:spPr>
          <a:xfrm>
            <a:off x="18037200" y="1032561"/>
            <a:ext cx="7616416" cy="24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8102E"/>
                </a:solidFill>
                <a:latin typeface="Comic Neue" panose="02090604020004020304" pitchFamily="18" charset="77"/>
                <a:ea typeface="Arial" pitchFamily="34" charset="-122"/>
                <a:cs typeface="Arial" pitchFamily="34" charset="-120"/>
              </a:rPr>
              <a:t>&amp; Murat Temiz</a:t>
            </a:r>
            <a:endParaRPr lang="en-US" sz="2400" dirty="0">
              <a:latin typeface="American Typewriter" panose="02090604020004020304" pitchFamily="18" charset="77"/>
            </a:endParaRPr>
          </a:p>
        </p:txBody>
      </p:sp>
      <p:sp>
        <p:nvSpPr>
          <p:cNvPr id="10" name="Text 4"/>
          <p:cNvSpPr/>
          <p:nvPr/>
        </p:nvSpPr>
        <p:spPr>
          <a:xfrm>
            <a:off x="18037200" y="1452200"/>
            <a:ext cx="7616416" cy="22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latin typeface="Comic Neue" panose="02000000000000000000" pitchFamily="2" charset="0"/>
                <a:ea typeface="Arial" pitchFamily="34" charset="-122"/>
                <a:cs typeface="Apple Chancery" panose="03020702040506060504" pitchFamily="66" charset="-79"/>
              </a:rPr>
              <a:t>Middle East Technical University , Ankara, Turkey</a:t>
            </a:r>
            <a:endParaRPr lang="en-US" sz="2400" b="1" dirty="0">
              <a:latin typeface="Comic Neue" panose="02000000000000000000" pitchFamily="2" charset="0"/>
              <a:cs typeface="Apple Chancery" panose="03020702040506060504" pitchFamily="66" charset="-79"/>
            </a:endParaRPr>
          </a:p>
        </p:txBody>
      </p:sp>
      <p:sp>
        <p:nvSpPr>
          <p:cNvPr id="11" name="Text 5"/>
          <p:cNvSpPr/>
          <p:nvPr/>
        </p:nvSpPr>
        <p:spPr>
          <a:xfrm>
            <a:off x="17317678" y="1836445"/>
            <a:ext cx="8331953" cy="354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latin typeface="Comic Neue" panose="02090604020004020304" pitchFamily="18" charset="77"/>
                <a:ea typeface="Arial" pitchFamily="34" charset="-122"/>
                <a:cs typeface="Arial" pitchFamily="34" charset="-120"/>
              </a:rPr>
              <a:t>Department of Physics &amp; EEE · PHYS400 Final Project · 2026</a:t>
            </a:r>
            <a:endParaRPr lang="en-US" sz="2400" dirty="0">
              <a:latin typeface="American Typewriter" panose="02090604020004020304" pitchFamily="18" charset="77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436014" y="2339059"/>
            <a:ext cx="15853080" cy="1253023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5" descr="/home/claude/assets/takeaw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965" y="2712509"/>
            <a:ext cx="7388945" cy="712503"/>
          </a:xfrm>
          <a:prstGeom prst="rect">
            <a:avLst/>
          </a:prstGeom>
        </p:spPr>
      </p:pic>
      <p:pic>
        <p:nvPicPr>
          <p:cNvPr id="16" name="Image 6" descr="/home/claude/assets/burst_spe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120000">
            <a:off x="22841657" y="2154829"/>
            <a:ext cx="2125127" cy="2125127"/>
          </a:xfrm>
          <a:prstGeom prst="rect">
            <a:avLst/>
          </a:prstGeom>
        </p:spPr>
      </p:pic>
      <p:pic>
        <p:nvPicPr>
          <p:cNvPr id="18" name="Image 8" descr="/home/claude/assets/burst_ac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240000">
            <a:off x="20128301" y="2168997"/>
            <a:ext cx="2108663" cy="2108663"/>
          </a:xfrm>
          <a:prstGeom prst="rect">
            <a:avLst/>
          </a:prstGeom>
        </p:spPr>
      </p:pic>
      <p:sp>
        <p:nvSpPr>
          <p:cNvPr id="20" name="Shape 8"/>
          <p:cNvSpPr/>
          <p:nvPr/>
        </p:nvSpPr>
        <p:spPr>
          <a:xfrm>
            <a:off x="436014" y="3714928"/>
            <a:ext cx="8370426" cy="3808208"/>
          </a:xfrm>
          <a:prstGeom prst="roundRect">
            <a:avLst>
              <a:gd name="adj" fmla="val 903"/>
            </a:avLst>
          </a:prstGeom>
          <a:solidFill>
            <a:srgbClr val="FFFFFF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 lang="en-CY" dirty="0"/>
          </a:p>
        </p:txBody>
      </p:sp>
      <p:sp>
        <p:nvSpPr>
          <p:cNvPr id="21" name="Shape 9"/>
          <p:cNvSpPr/>
          <p:nvPr/>
        </p:nvSpPr>
        <p:spPr>
          <a:xfrm>
            <a:off x="626251" y="3616651"/>
            <a:ext cx="7989953" cy="565089"/>
          </a:xfrm>
          <a:prstGeom prst="roundRect">
            <a:avLst>
              <a:gd name="adj" fmla="val 7826"/>
            </a:avLst>
          </a:prstGeom>
          <a:solidFill>
            <a:srgbClr val="9E1B32"/>
          </a:solidFill>
          <a:ln w="4445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10" descr="/home/claude/assets/h_proble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4917" y="3629445"/>
            <a:ext cx="2595645" cy="637109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663147" y="4313987"/>
            <a:ext cx="6609863" cy="64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720" b="1" dirty="0">
                <a:solidFill>
                  <a:srgbClr val="16161D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Recover </a:t>
            </a:r>
            <a:r>
              <a:rPr lang="en-US" sz="1720" b="1" dirty="0">
                <a:solidFill>
                  <a:srgbClr val="C8102E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R ∈ SO(3)</a:t>
            </a:r>
            <a:r>
              <a:rPr lang="en-US" sz="1720" b="1" dirty="0">
                <a:solidFill>
                  <a:srgbClr val="16161D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 that aligns an observed object to a reference.</a:t>
            </a:r>
            <a:endParaRPr lang="en-US" sz="3200" dirty="0">
              <a:latin typeface="Comic Neue" panose="02000000000000000000" pitchFamily="2" charset="0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645104" y="4814063"/>
            <a:ext cx="5994856" cy="491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90" dirty="0">
                <a:solidFill>
                  <a:srgbClr val="33333C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Robotics &amp; pose · molecular reconstruction · computer vision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1290" dirty="0">
                <a:solidFill>
                  <a:srgbClr val="33333C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all on band-limited data on the sphere.</a:t>
            </a:r>
            <a:endParaRPr lang="en-US" sz="2400" dirty="0">
              <a:latin typeface="Comic Neue" panose="02000000000000000000" pitchFamily="2" charset="0"/>
            </a:endParaRPr>
          </a:p>
        </p:txBody>
      </p:sp>
      <p:sp>
        <p:nvSpPr>
          <p:cNvPr id="25" name="Shape 12"/>
          <p:cNvSpPr/>
          <p:nvPr/>
        </p:nvSpPr>
        <p:spPr>
          <a:xfrm>
            <a:off x="753075" y="5434764"/>
            <a:ext cx="7736303" cy="491382"/>
          </a:xfrm>
          <a:prstGeom prst="roundRect">
            <a:avLst>
              <a:gd name="adj" fmla="val 6000"/>
            </a:avLst>
          </a:prstGeom>
          <a:solidFill>
            <a:srgbClr val="FBE9EC"/>
          </a:solidFill>
          <a:ln w="15240">
            <a:solidFill>
              <a:srgbClr val="C9CC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3"/>
          <p:cNvSpPr/>
          <p:nvPr/>
        </p:nvSpPr>
        <p:spPr>
          <a:xfrm>
            <a:off x="848194" y="5434764"/>
            <a:ext cx="5847442" cy="491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90" b="1" dirty="0">
                <a:solidFill>
                  <a:srgbClr val="C8102E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VOLUMETRIC:  </a:t>
            </a:r>
            <a:r>
              <a:rPr lang="en-US" sz="1290" dirty="0">
                <a:solidFill>
                  <a:srgbClr val="16161D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✓ global &amp; reliable   </a:t>
            </a:r>
            <a:r>
              <a:rPr lang="en-US" sz="1290" dirty="0">
                <a:solidFill>
                  <a:srgbClr val="62626E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✗ but  O(L⁴) — costly</a:t>
            </a:r>
            <a:endParaRPr lang="en-US" sz="2400" dirty="0">
              <a:latin typeface="Comic Neue" panose="02000000000000000000" pitchFamily="2" charset="0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753075" y="5985111"/>
            <a:ext cx="7736303" cy="491382"/>
          </a:xfrm>
          <a:prstGeom prst="roundRect">
            <a:avLst>
              <a:gd name="adj" fmla="val 6000"/>
            </a:avLst>
          </a:prstGeom>
          <a:solidFill>
            <a:srgbClr val="FBE9EC"/>
          </a:solidFill>
          <a:ln w="15240">
            <a:solidFill>
              <a:srgbClr val="C9CCD2"/>
            </a:solidFill>
            <a:prstDash val="solid"/>
          </a:ln>
        </p:spPr>
        <p:txBody>
          <a:bodyPr/>
          <a:lstStyle/>
          <a:p>
            <a:endParaRPr lang="en-CY" dirty="0"/>
          </a:p>
        </p:txBody>
      </p:sp>
      <p:sp>
        <p:nvSpPr>
          <p:cNvPr id="28" name="Text 15"/>
          <p:cNvSpPr/>
          <p:nvPr/>
        </p:nvSpPr>
        <p:spPr>
          <a:xfrm>
            <a:off x="848194" y="5985111"/>
            <a:ext cx="5847442" cy="491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90" b="1" dirty="0">
                <a:solidFill>
                  <a:srgbClr val="C8102E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LOCAL (ICP):  </a:t>
            </a:r>
            <a:r>
              <a:rPr lang="en-US" sz="1290" dirty="0">
                <a:solidFill>
                  <a:srgbClr val="16161D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✓ cheap per step   </a:t>
            </a:r>
            <a:r>
              <a:rPr lang="en-US" sz="1290" dirty="0">
                <a:solidFill>
                  <a:srgbClr val="62626E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✗ but needs init · local minima</a:t>
            </a:r>
            <a:endParaRPr lang="en-US" sz="2400" dirty="0">
              <a:latin typeface="Comic Neue" panose="02000000000000000000" pitchFamily="2" charset="0"/>
            </a:endParaRPr>
          </a:p>
        </p:txBody>
      </p:sp>
      <p:sp>
        <p:nvSpPr>
          <p:cNvPr id="29" name="Shape 16"/>
          <p:cNvSpPr/>
          <p:nvPr/>
        </p:nvSpPr>
        <p:spPr>
          <a:xfrm>
            <a:off x="753075" y="6560028"/>
            <a:ext cx="7736303" cy="466813"/>
          </a:xfrm>
          <a:prstGeom prst="roundRect">
            <a:avLst>
              <a:gd name="adj" fmla="val 6316"/>
            </a:avLst>
          </a:prstGeom>
          <a:solidFill>
            <a:srgbClr val="9E1B32"/>
          </a:solidFill>
          <a:ln w="25400">
            <a:solidFill>
              <a:srgbClr val="1616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17"/>
          <p:cNvSpPr/>
          <p:nvPr/>
        </p:nvSpPr>
        <p:spPr>
          <a:xfrm>
            <a:off x="848194" y="6560028"/>
            <a:ext cx="5847442" cy="46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90" b="1" dirty="0">
                <a:solidFill>
                  <a:srgbClr val="FFFFFF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WE WANT:  deterministic · global · fast.</a:t>
            </a:r>
            <a:endParaRPr lang="en-US" sz="2400" dirty="0">
              <a:latin typeface="Comic Neue" panose="02000000000000000000" pitchFamily="2" charset="0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9060090" y="3714928"/>
            <a:ext cx="11794692" cy="3808208"/>
          </a:xfrm>
          <a:prstGeom prst="roundRect">
            <a:avLst>
              <a:gd name="adj" fmla="val 903"/>
            </a:avLst>
          </a:prstGeom>
          <a:solidFill>
            <a:srgbClr val="FFFFFF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 lang="en-CY" dirty="0"/>
          </a:p>
        </p:txBody>
      </p:sp>
      <p:sp>
        <p:nvSpPr>
          <p:cNvPr id="34" name="Text 20"/>
          <p:cNvSpPr/>
          <p:nvPr/>
        </p:nvSpPr>
        <p:spPr>
          <a:xfrm>
            <a:off x="9377151" y="4206309"/>
            <a:ext cx="8648317" cy="491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360" b="1" dirty="0">
                <a:solidFill>
                  <a:srgbClr val="16161D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A Fourier transform </a:t>
            </a:r>
            <a:r>
              <a:rPr lang="en-US" sz="2360" b="1" dirty="0">
                <a:solidFill>
                  <a:srgbClr val="C8102E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wrapped around the sphere</a:t>
            </a:r>
            <a:r>
              <a:rPr lang="en-US" sz="2360" b="1" dirty="0">
                <a:solidFill>
                  <a:srgbClr val="16161D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.</a:t>
            </a:r>
            <a:endParaRPr lang="en-US" sz="4400" dirty="0">
              <a:latin typeface="Comic Neue" panose="02000000000000000000" pitchFamily="2" charset="0"/>
            </a:endParaRPr>
          </a:p>
        </p:txBody>
      </p:sp>
      <p:pic>
        <p:nvPicPr>
          <p:cNvPr id="35" name="Image 12" descr="/home/claude/assets/sh_nod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8512" y="4648553"/>
            <a:ext cx="4576041" cy="2702599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9313739" y="7326583"/>
            <a:ext cx="5110369" cy="171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2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Nodal patterns  Yℓm  (ℓ = 0…4)</a:t>
            </a:r>
            <a:endParaRPr lang="en-US" sz="1200" dirty="0"/>
          </a:p>
        </p:txBody>
      </p:sp>
      <p:pic>
        <p:nvPicPr>
          <p:cNvPr id="37" name="Image 13" descr="/home/claude/assets/peq_shex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62270" y="4673122"/>
            <a:ext cx="3390533" cy="741165"/>
          </a:xfrm>
          <a:prstGeom prst="rect">
            <a:avLst/>
          </a:prstGeom>
        </p:spPr>
      </p:pic>
      <p:pic>
        <p:nvPicPr>
          <p:cNvPr id="38" name="Image 14" descr="/home/claude/assets/peq_yl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62270" y="5385625"/>
            <a:ext cx="3390533" cy="373242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16257388" y="6029827"/>
            <a:ext cx="3390533" cy="24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90" b="1" dirty="0">
                <a:solidFill>
                  <a:srgbClr val="C8102E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ℓ </a:t>
            </a:r>
            <a:r>
              <a:rPr lang="en-US" sz="1290" dirty="0">
                <a:solidFill>
                  <a:srgbClr val="33333C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— angular frequency;   </a:t>
            </a:r>
            <a:r>
              <a:rPr lang="en-US" sz="1290" b="1" dirty="0">
                <a:solidFill>
                  <a:srgbClr val="C8102E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m </a:t>
            </a:r>
            <a:r>
              <a:rPr lang="en-US" sz="1290" dirty="0">
                <a:solidFill>
                  <a:srgbClr val="33333C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— azimuthal order.</a:t>
            </a:r>
            <a:endParaRPr lang="en-US" sz="2400" dirty="0">
              <a:latin typeface="Comic Neue" panose="02000000000000000000" pitchFamily="2" charset="0"/>
            </a:endParaRPr>
          </a:p>
        </p:txBody>
      </p:sp>
      <p:sp>
        <p:nvSpPr>
          <p:cNvPr id="40" name="Text 23"/>
          <p:cNvSpPr/>
          <p:nvPr/>
        </p:nvSpPr>
        <p:spPr>
          <a:xfrm>
            <a:off x="16291540" y="6497153"/>
            <a:ext cx="3696434" cy="90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90" dirty="0">
                <a:solidFill>
                  <a:srgbClr val="33333C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m → east–west nodal lines 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1290" dirty="0">
                <a:solidFill>
                  <a:srgbClr val="33333C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ℓ−|m| → north–south circles. 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1290" dirty="0">
                <a:solidFill>
                  <a:srgbClr val="33333C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High |m| modes hug the equator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1290" dirty="0">
                <a:solidFill>
                  <a:srgbClr val="33333C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the part of the boundary hologram reads best!</a:t>
            </a:r>
            <a:endParaRPr lang="en-US" sz="2400" dirty="0">
              <a:latin typeface="Comic Neue" panose="02000000000000000000" pitchFamily="2" charset="0"/>
            </a:endParaRPr>
          </a:p>
        </p:txBody>
      </p:sp>
      <p:sp>
        <p:nvSpPr>
          <p:cNvPr id="41" name="Shape 24"/>
          <p:cNvSpPr/>
          <p:nvPr/>
        </p:nvSpPr>
        <p:spPr>
          <a:xfrm>
            <a:off x="21108431" y="3714928"/>
            <a:ext cx="8750900" cy="3808208"/>
          </a:xfrm>
          <a:prstGeom prst="roundRect">
            <a:avLst>
              <a:gd name="adj" fmla="val 903"/>
            </a:avLst>
          </a:prstGeom>
          <a:solidFill>
            <a:srgbClr val="FFFFFF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25"/>
          <p:cNvSpPr/>
          <p:nvPr/>
        </p:nvSpPr>
        <p:spPr>
          <a:xfrm>
            <a:off x="21298668" y="3616651"/>
            <a:ext cx="8370426" cy="565089"/>
          </a:xfrm>
          <a:prstGeom prst="roundRect">
            <a:avLst>
              <a:gd name="adj" fmla="val 7826"/>
            </a:avLst>
          </a:prstGeom>
          <a:solidFill>
            <a:srgbClr val="9E1B32"/>
          </a:solidFill>
          <a:ln w="4445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3" name="Image 15" descr="/home/claude/assets/h_ide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59242" y="3664929"/>
            <a:ext cx="4438532" cy="627443"/>
          </a:xfrm>
          <a:prstGeom prst="rect">
            <a:avLst/>
          </a:prstGeom>
        </p:spPr>
      </p:pic>
      <p:sp>
        <p:nvSpPr>
          <p:cNvPr id="46" name="Shape 27"/>
          <p:cNvSpPr/>
          <p:nvPr/>
        </p:nvSpPr>
        <p:spPr>
          <a:xfrm>
            <a:off x="15252047" y="7550464"/>
            <a:ext cx="14489716" cy="6345703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Shape 28"/>
          <p:cNvSpPr/>
          <p:nvPr/>
        </p:nvSpPr>
        <p:spPr>
          <a:xfrm>
            <a:off x="17674252" y="7682575"/>
            <a:ext cx="9490711" cy="614227"/>
          </a:xfrm>
          <a:prstGeom prst="roundRect">
            <a:avLst>
              <a:gd name="adj" fmla="val 7200"/>
            </a:avLst>
          </a:prstGeom>
          <a:solidFill>
            <a:srgbClr val="9E1B32"/>
          </a:solidFill>
          <a:ln w="4445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Text 36"/>
          <p:cNvSpPr/>
          <p:nvPr/>
        </p:nvSpPr>
        <p:spPr>
          <a:xfrm>
            <a:off x="10592554" y="8343743"/>
            <a:ext cx="343967" cy="343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75" name="Text 51"/>
          <p:cNvSpPr/>
          <p:nvPr/>
        </p:nvSpPr>
        <p:spPr>
          <a:xfrm>
            <a:off x="10592554" y="10039010"/>
            <a:ext cx="343967" cy="343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81" name="Text 56"/>
          <p:cNvSpPr/>
          <p:nvPr/>
        </p:nvSpPr>
        <p:spPr>
          <a:xfrm>
            <a:off x="20336914" y="10039010"/>
            <a:ext cx="343967" cy="343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91" name="Shape 62"/>
          <p:cNvSpPr/>
          <p:nvPr/>
        </p:nvSpPr>
        <p:spPr>
          <a:xfrm>
            <a:off x="436014" y="14033943"/>
            <a:ext cx="17578088" cy="3120274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6" name="Shape 72"/>
          <p:cNvSpPr/>
          <p:nvPr/>
        </p:nvSpPr>
        <p:spPr>
          <a:xfrm>
            <a:off x="18064639" y="14033943"/>
            <a:ext cx="11794692" cy="3120274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7" name="Shape 73"/>
          <p:cNvSpPr/>
          <p:nvPr/>
        </p:nvSpPr>
        <p:spPr>
          <a:xfrm>
            <a:off x="18254876" y="13935666"/>
            <a:ext cx="11414218" cy="589658"/>
          </a:xfrm>
          <a:prstGeom prst="roundRect">
            <a:avLst>
              <a:gd name="adj" fmla="val 7500"/>
            </a:avLst>
          </a:prstGeom>
          <a:solidFill>
            <a:srgbClr val="9E1B32"/>
          </a:solidFill>
          <a:ln w="4445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8" name="Image 32" descr="/home/claude/assets/h_reci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745221" y="13848170"/>
            <a:ext cx="6858593" cy="847976"/>
          </a:xfrm>
          <a:prstGeom prst="rect">
            <a:avLst/>
          </a:prstGeom>
        </p:spPr>
      </p:pic>
      <p:sp>
        <p:nvSpPr>
          <p:cNvPr id="111" name="Text 75"/>
          <p:cNvSpPr/>
          <p:nvPr/>
        </p:nvSpPr>
        <p:spPr>
          <a:xfrm>
            <a:off x="18350249" y="14645089"/>
            <a:ext cx="6858593" cy="76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90" b="1" dirty="0">
                <a:solidFill>
                  <a:srgbClr val="C8102E"/>
                </a:solidFill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Analogy is a two way street. </a:t>
            </a:r>
            <a:r>
              <a:rPr lang="tr-TR" sz="1290" dirty="0" err="1">
                <a:solidFill>
                  <a:srgbClr val="16161D"/>
                </a:solidFill>
                <a:latin typeface="Comic Neue"/>
              </a:rPr>
              <a:t>The</a:t>
            </a:r>
            <a:r>
              <a:rPr sz="1290" dirty="0">
                <a:solidFill>
                  <a:srgbClr val="16161D"/>
                </a:solidFill>
                <a:latin typeface="Comic Neue"/>
              </a:rPr>
              <a:t> boundary map is lossy (~4/L). </a:t>
            </a:r>
            <a:endParaRPr lang="tr-TR" sz="1290" dirty="0">
              <a:solidFill>
                <a:srgbClr val="16161D"/>
              </a:solidFill>
              <a:latin typeface="Comic Neue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sz="1290" dirty="0">
                <a:solidFill>
                  <a:srgbClr val="16161D"/>
                </a:solidFill>
                <a:latin typeface="Comic Neue"/>
              </a:rPr>
              <a:t>Pushing this purely geometric bound into black hole thermodynamics </a:t>
            </a:r>
            <a:r>
              <a:rPr lang="tr-TR" sz="1290" dirty="0" err="1">
                <a:solidFill>
                  <a:srgbClr val="16161D"/>
                </a:solidFill>
                <a:latin typeface="Comic Neue"/>
              </a:rPr>
              <a:t>predicts</a:t>
            </a:r>
            <a:r>
              <a:rPr sz="1290" dirty="0">
                <a:solidFill>
                  <a:srgbClr val="16161D"/>
                </a:solidFill>
                <a:latin typeface="Comic Neue"/>
              </a:rPr>
              <a:t> </a:t>
            </a:r>
            <a:endParaRPr lang="tr-TR" sz="1290" dirty="0">
              <a:solidFill>
                <a:srgbClr val="16161D"/>
              </a:solidFill>
              <a:latin typeface="Comic Neue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tr-TR" sz="1290" dirty="0">
                <a:solidFill>
                  <a:srgbClr val="16161D"/>
                </a:solidFill>
                <a:latin typeface="Comic Neue"/>
              </a:rPr>
              <a:t>a</a:t>
            </a:r>
            <a:r>
              <a:rPr sz="1290" dirty="0">
                <a:solidFill>
                  <a:srgbClr val="16161D"/>
                </a:solidFill>
                <a:latin typeface="Comic Neue"/>
              </a:rPr>
              <a:t> logarithmic area correction to the </a:t>
            </a:r>
            <a:r>
              <a:rPr sz="1290" dirty="0" err="1">
                <a:solidFill>
                  <a:srgbClr val="16161D"/>
                </a:solidFill>
                <a:latin typeface="Comic Neue"/>
              </a:rPr>
              <a:t>Bekenstein</a:t>
            </a:r>
            <a:r>
              <a:rPr sz="1290" dirty="0">
                <a:solidFill>
                  <a:srgbClr val="16161D"/>
                </a:solidFill>
                <a:latin typeface="Comic Neue"/>
              </a:rPr>
              <a:t>–Hawking entropy.</a:t>
            </a:r>
            <a:endParaRPr lang="en-US" sz="1290" dirty="0">
              <a:latin typeface="Comic Neue" panose="02000000000000000000" pitchFamily="2" charset="0"/>
            </a:endParaRPr>
          </a:p>
        </p:txBody>
      </p:sp>
      <p:pic>
        <p:nvPicPr>
          <p:cNvPr id="112" name="Image 34" descr="/home/claude/assets/peq_bhare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924869" y="15259316"/>
            <a:ext cx="2320877" cy="565089"/>
          </a:xfrm>
          <a:prstGeom prst="rect">
            <a:avLst/>
          </a:prstGeom>
        </p:spPr>
      </p:pic>
      <p:pic>
        <p:nvPicPr>
          <p:cNvPr id="113" name="Image 35" descr="/home/claude/assets/eq_reci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84916" y="16041355"/>
            <a:ext cx="2288981" cy="417674"/>
          </a:xfrm>
          <a:prstGeom prst="rect">
            <a:avLst/>
          </a:prstGeom>
        </p:spPr>
      </p:pic>
      <p:pic>
        <p:nvPicPr>
          <p:cNvPr id="114" name="Image 36" descr="/home/claude/assets/eq_schu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780168" y="15408855"/>
            <a:ext cx="1794777" cy="600823"/>
          </a:xfrm>
          <a:prstGeom prst="rect">
            <a:avLst/>
          </a:prstGeom>
        </p:spPr>
      </p:pic>
      <p:sp>
        <p:nvSpPr>
          <p:cNvPr id="115" name="Text 76"/>
          <p:cNvSpPr/>
          <p:nvPr/>
        </p:nvSpPr>
        <p:spPr>
          <a:xfrm>
            <a:off x="18350249" y="16654370"/>
            <a:ext cx="6879343" cy="58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90" i="1" dirty="0"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Schur's lemma + Cauchy–Schwarz set c from the bulk symmetry group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90" i="1" dirty="0">
                <a:latin typeface="Comic Neue" panose="02000000000000000000" pitchFamily="2" charset="0"/>
                <a:ea typeface="Arial" pitchFamily="34" charset="-122"/>
                <a:cs typeface="Arial" pitchFamily="34" charset="-120"/>
              </a:rPr>
              <a:t>Same structure without gravity!</a:t>
            </a:r>
            <a:endParaRPr lang="en-US" sz="1290" dirty="0">
              <a:latin typeface="Comic Neue" panose="02000000000000000000" pitchFamily="2" charset="0"/>
            </a:endParaRPr>
          </a:p>
        </p:txBody>
      </p:sp>
      <p:sp>
        <p:nvSpPr>
          <p:cNvPr id="116" name="Shape 77"/>
          <p:cNvSpPr/>
          <p:nvPr/>
        </p:nvSpPr>
        <p:spPr>
          <a:xfrm>
            <a:off x="436014" y="17277061"/>
            <a:ext cx="29423317" cy="3120274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7" name="Shape 78"/>
          <p:cNvSpPr/>
          <p:nvPr/>
        </p:nvSpPr>
        <p:spPr>
          <a:xfrm>
            <a:off x="626251" y="17178785"/>
            <a:ext cx="29042843" cy="589658"/>
          </a:xfrm>
          <a:prstGeom prst="roundRect">
            <a:avLst>
              <a:gd name="adj" fmla="val 7500"/>
            </a:avLst>
          </a:prstGeom>
          <a:solidFill>
            <a:srgbClr val="9E1B32"/>
          </a:solidFill>
          <a:ln w="4445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8" name="Image 37" descr="/home/claude/assets/h_result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46801" y="17036781"/>
            <a:ext cx="5837727" cy="960580"/>
          </a:xfrm>
          <a:prstGeom prst="rect">
            <a:avLst/>
          </a:prstGeom>
        </p:spPr>
      </p:pic>
      <p:sp>
        <p:nvSpPr>
          <p:cNvPr id="119" name="Shape 79"/>
          <p:cNvSpPr/>
          <p:nvPr/>
        </p:nvSpPr>
        <p:spPr>
          <a:xfrm>
            <a:off x="689663" y="17793012"/>
            <a:ext cx="6991208" cy="1990096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C9CCD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0" name="Image 38" descr="/home/claude/assets/fig_theor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4782" y="17926205"/>
            <a:ext cx="5270068" cy="1723709"/>
          </a:xfrm>
          <a:prstGeom prst="rect">
            <a:avLst/>
          </a:prstGeom>
        </p:spPr>
      </p:pic>
      <p:sp>
        <p:nvSpPr>
          <p:cNvPr id="121" name="Text 80"/>
          <p:cNvSpPr/>
          <p:nvPr/>
        </p:nvSpPr>
        <p:spPr>
          <a:xfrm>
            <a:off x="753075" y="19832246"/>
            <a:ext cx="5319206" cy="54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62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theorems verified numerically. Measured vs. predicted within ~1%.</a:t>
            </a:r>
            <a:endParaRPr lang="en-US" sz="1250" dirty="0"/>
          </a:p>
        </p:txBody>
      </p:sp>
      <p:sp>
        <p:nvSpPr>
          <p:cNvPr id="122" name="Shape 81"/>
          <p:cNvSpPr/>
          <p:nvPr/>
        </p:nvSpPr>
        <p:spPr>
          <a:xfrm>
            <a:off x="7997933" y="17793012"/>
            <a:ext cx="6991208" cy="1990096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C9CCD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3" name="Image 39" descr="/home/claude/assets/fig_timing_scaling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23998" y="17842150"/>
            <a:ext cx="4757169" cy="1891819"/>
          </a:xfrm>
          <a:prstGeom prst="rect">
            <a:avLst/>
          </a:prstGeom>
        </p:spPr>
      </p:pic>
      <p:sp>
        <p:nvSpPr>
          <p:cNvPr id="124" name="Text 82"/>
          <p:cNvSpPr/>
          <p:nvPr/>
        </p:nvSpPr>
        <p:spPr>
          <a:xfrm>
            <a:off x="8061346" y="19832246"/>
            <a:ext cx="5319206" cy="54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62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overtakes the O(L⁴) baseline at L=16; 8× faster by L=48 as the gap grows like L/log L.</a:t>
            </a:r>
            <a:endParaRPr lang="en-US" sz="1250" dirty="0"/>
          </a:p>
        </p:txBody>
      </p:sp>
      <p:sp>
        <p:nvSpPr>
          <p:cNvPr id="125" name="Shape 83"/>
          <p:cNvSpPr/>
          <p:nvPr/>
        </p:nvSpPr>
        <p:spPr>
          <a:xfrm>
            <a:off x="15306203" y="17793012"/>
            <a:ext cx="6991208" cy="1990096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C9CCD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6" name="Image 40" descr="/home/claude/assets/fig_molecula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753020" y="17842150"/>
            <a:ext cx="4725008" cy="1891819"/>
          </a:xfrm>
          <a:prstGeom prst="rect">
            <a:avLst/>
          </a:prstGeom>
        </p:spPr>
      </p:pic>
      <p:sp>
        <p:nvSpPr>
          <p:cNvPr id="127" name="Text 84"/>
          <p:cNvSpPr/>
          <p:nvPr/>
        </p:nvSpPr>
        <p:spPr>
          <a:xfrm>
            <a:off x="14640374" y="19832246"/>
            <a:ext cx="6486238" cy="54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62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real proteins (PDB) antipodal flips drop 62–78% to 0%, staying 2–3× faster.</a:t>
            </a:r>
            <a:endParaRPr lang="en-US" sz="1250" dirty="0"/>
          </a:p>
        </p:txBody>
      </p:sp>
      <p:sp>
        <p:nvSpPr>
          <p:cNvPr id="128" name="Shape 85"/>
          <p:cNvSpPr/>
          <p:nvPr/>
        </p:nvSpPr>
        <p:spPr>
          <a:xfrm>
            <a:off x="22614473" y="17793012"/>
            <a:ext cx="6991208" cy="1990096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C9CCD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9" name="Image 41" descr="/home/claude/assets/fig_registration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191401" y="17842150"/>
            <a:ext cx="2973562" cy="1891819"/>
          </a:xfrm>
          <a:prstGeom prst="rect">
            <a:avLst/>
          </a:prstGeom>
        </p:spPr>
      </p:pic>
      <p:sp>
        <p:nvSpPr>
          <p:cNvPr id="130" name="Text 86"/>
          <p:cNvSpPr/>
          <p:nvPr/>
        </p:nvSpPr>
        <p:spPr>
          <a:xfrm>
            <a:off x="22677886" y="19832246"/>
            <a:ext cx="5319206" cy="54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62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bunny: HSA+ICP is 100% reliable at 40 ms,</a:t>
            </a:r>
            <a:endParaRPr lang="en-US" sz="1250" dirty="0"/>
          </a:p>
          <a:p>
            <a:r>
              <a:rPr sz="1000">
                <a:solidFill>
                  <a:srgbClr val="62626E"/>
                </a:solidFill>
                <a:latin typeface="Arial"/>
              </a:rPr>
              <a:t>the fast and reliable corner, ~16× under FPFH+RANSAC.</a:t>
            </a:r>
          </a:p>
        </p:txBody>
      </p:sp>
      <p:sp>
        <p:nvSpPr>
          <p:cNvPr id="131" name="Shape 87"/>
          <p:cNvSpPr/>
          <p:nvPr/>
        </p:nvSpPr>
        <p:spPr>
          <a:xfrm>
            <a:off x="436014" y="20471042"/>
            <a:ext cx="29423317" cy="638796"/>
          </a:xfrm>
          <a:prstGeom prst="roundRect">
            <a:avLst>
              <a:gd name="adj" fmla="val 5385"/>
            </a:avLst>
          </a:prstGeom>
          <a:solidFill>
            <a:srgbClr val="9E1B32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 lang="en-CY" dirty="0"/>
          </a:p>
        </p:txBody>
      </p:sp>
      <p:sp>
        <p:nvSpPr>
          <p:cNvPr id="133" name="Text 88"/>
          <p:cNvSpPr/>
          <p:nvPr/>
        </p:nvSpPr>
        <p:spPr>
          <a:xfrm>
            <a:off x="1260374" y="20559491"/>
            <a:ext cx="13512996" cy="46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500" dirty="0"/>
          </a:p>
        </p:txBody>
      </p:sp>
      <p:sp>
        <p:nvSpPr>
          <p:cNvPr id="134" name="Text 89"/>
          <p:cNvSpPr/>
          <p:nvPr/>
        </p:nvSpPr>
        <p:spPr>
          <a:xfrm>
            <a:off x="1835803" y="20559491"/>
            <a:ext cx="19903942" cy="46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i="1" dirty="0">
                <a:solidFill>
                  <a:schemeClr val="bg1"/>
                </a:solidFill>
                <a:latin typeface="Comic Neue" panose="02000000000000000000" pitchFamily="2" charset="0"/>
              </a:rPr>
              <a:t>References: </a:t>
            </a:r>
            <a:r>
              <a:rPr lang="en-GB" b="1" i="1" dirty="0" err="1">
                <a:solidFill>
                  <a:schemeClr val="bg1"/>
                </a:solidFill>
                <a:latin typeface="Comic Neue" panose="02000000000000000000" pitchFamily="2" charset="0"/>
              </a:rPr>
              <a:t>Kostelec</a:t>
            </a:r>
            <a:r>
              <a:rPr lang="en-GB" b="1" i="1" dirty="0">
                <a:solidFill>
                  <a:schemeClr val="bg1"/>
                </a:solidFill>
                <a:latin typeface="Comic Neue" panose="02000000000000000000" pitchFamily="2" charset="0"/>
              </a:rPr>
              <a:t>–</a:t>
            </a:r>
            <a:r>
              <a:rPr lang="en-GB" b="1" i="1" dirty="0" err="1">
                <a:solidFill>
                  <a:schemeClr val="bg1"/>
                </a:solidFill>
                <a:latin typeface="Comic Neue" panose="02000000000000000000" pitchFamily="2" charset="0"/>
              </a:rPr>
              <a:t>Rockmore</a:t>
            </a:r>
            <a:r>
              <a:rPr lang="en-GB" b="1" i="1" dirty="0">
                <a:solidFill>
                  <a:schemeClr val="bg1"/>
                </a:solidFill>
                <a:latin typeface="Comic Neue" panose="02000000000000000000" pitchFamily="2" charset="0"/>
              </a:rPr>
              <a:t> ’08 · Driscoll–Healy ’94 · </a:t>
            </a:r>
            <a:r>
              <a:rPr lang="en-GB" b="1" i="1" dirty="0" err="1">
                <a:solidFill>
                  <a:schemeClr val="bg1"/>
                </a:solidFill>
                <a:latin typeface="Comic Neue" panose="02000000000000000000" pitchFamily="2" charset="0"/>
              </a:rPr>
              <a:t>Kuglin</a:t>
            </a:r>
            <a:r>
              <a:rPr lang="en-GB" b="1" i="1" dirty="0">
                <a:solidFill>
                  <a:schemeClr val="bg1"/>
                </a:solidFill>
                <a:latin typeface="Comic Neue" panose="02000000000000000000" pitchFamily="2" charset="0"/>
              </a:rPr>
              <a:t>–Hines ’75 · </a:t>
            </a:r>
            <a:r>
              <a:rPr lang="en-GB" b="1" i="1" dirty="0" err="1">
                <a:solidFill>
                  <a:schemeClr val="bg1"/>
                </a:solidFill>
                <a:latin typeface="Comic Neue" panose="02000000000000000000" pitchFamily="2" charset="0"/>
              </a:rPr>
              <a:t>Besl</a:t>
            </a:r>
            <a:r>
              <a:rPr lang="en-GB" b="1" i="1" dirty="0">
                <a:solidFill>
                  <a:schemeClr val="bg1"/>
                </a:solidFill>
                <a:latin typeface="Comic Neue" panose="02000000000000000000" pitchFamily="2" charset="0"/>
              </a:rPr>
              <a:t>–McKay ’92 · Kovacs–</a:t>
            </a:r>
            <a:r>
              <a:rPr lang="en-GB" b="1" i="1" dirty="0" err="1">
                <a:solidFill>
                  <a:schemeClr val="bg1"/>
                </a:solidFill>
                <a:latin typeface="Comic Neue" panose="02000000000000000000" pitchFamily="2" charset="0"/>
              </a:rPr>
              <a:t>Wriggers</a:t>
            </a:r>
            <a:r>
              <a:rPr lang="en-GB" b="1" i="1" dirty="0">
                <a:solidFill>
                  <a:schemeClr val="bg1"/>
                </a:solidFill>
                <a:latin typeface="Comic Neue" panose="02000000000000000000" pitchFamily="2" charset="0"/>
              </a:rPr>
              <a:t> ’02 · ’t Hooft ’93 · </a:t>
            </a:r>
            <a:r>
              <a:rPr lang="en-GB" b="1" i="1" dirty="0" err="1">
                <a:solidFill>
                  <a:schemeClr val="bg1"/>
                </a:solidFill>
                <a:latin typeface="Comic Neue" panose="02000000000000000000" pitchFamily="2" charset="0"/>
              </a:rPr>
              <a:t>Almheiri</a:t>
            </a:r>
            <a:r>
              <a:rPr lang="en-GB" b="1" i="1" dirty="0">
                <a:solidFill>
                  <a:schemeClr val="bg1"/>
                </a:solidFill>
                <a:latin typeface="Comic Neue" panose="02000000000000000000" pitchFamily="2" charset="0"/>
              </a:rPr>
              <a:t>–Dong–Harlow ’15 · Cover–Thomas ’06 · Cohen et al. ’18.</a:t>
            </a:r>
            <a:endParaRPr lang="en-GB" i="1" dirty="0">
              <a:solidFill>
                <a:schemeClr val="bg1"/>
              </a:solidFill>
              <a:latin typeface="Comic Neue" panose="02000000000000000000" pitchFamily="2" charset="0"/>
            </a:endParaRPr>
          </a:p>
        </p:txBody>
      </p:sp>
      <p:pic>
        <p:nvPicPr>
          <p:cNvPr id="137" name="Image 0" descr="/home/claude/assets/halftone_red.png">
            <a:extLst>
              <a:ext uri="{FF2B5EF4-FFF2-40B4-BE49-F238E27FC236}">
                <a16:creationId xmlns:a16="http://schemas.microsoft.com/office/drawing/2014/main" id="{B73977E5-0B53-B988-AAB5-E4F4B15CCC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292608" y="318655"/>
            <a:ext cx="2928190" cy="1691179"/>
          </a:xfrm>
          <a:prstGeom prst="rect">
            <a:avLst/>
          </a:prstGeom>
        </p:spPr>
      </p:pic>
      <p:sp>
        <p:nvSpPr>
          <p:cNvPr id="6" name="Shape 60">
            <a:extLst>
              <a:ext uri="{FF2B5EF4-FFF2-40B4-BE49-F238E27FC236}">
                <a16:creationId xmlns:a16="http://schemas.microsoft.com/office/drawing/2014/main" id="{FE5D1EA3-CA85-EC11-E226-F3168512C9A4}"/>
              </a:ext>
            </a:extLst>
          </p:cNvPr>
          <p:cNvSpPr/>
          <p:nvPr/>
        </p:nvSpPr>
        <p:spPr>
          <a:xfrm>
            <a:off x="436014" y="13972520"/>
            <a:ext cx="17406682" cy="552804"/>
          </a:xfrm>
          <a:prstGeom prst="roundRect">
            <a:avLst>
              <a:gd name="adj" fmla="val 8182"/>
            </a:avLst>
          </a:prstGeom>
          <a:solidFill>
            <a:srgbClr val="9E1B32"/>
          </a:solidFill>
          <a:ln w="4445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24" descr="/home/claude/assets/h_action.png">
            <a:extLst>
              <a:ext uri="{FF2B5EF4-FFF2-40B4-BE49-F238E27FC236}">
                <a16:creationId xmlns:a16="http://schemas.microsoft.com/office/drawing/2014/main" id="{24B166B4-7163-03B3-860E-A70350D40C6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50849" y="13932743"/>
            <a:ext cx="5991663" cy="740790"/>
          </a:xfrm>
          <a:prstGeom prst="rect">
            <a:avLst/>
          </a:prstGeom>
        </p:spPr>
      </p:pic>
      <p:pic>
        <p:nvPicPr>
          <p:cNvPr id="135" name="Image 25" descr="/home/claude/assets/fig_pipeline.png">
            <a:extLst>
              <a:ext uri="{FF2B5EF4-FFF2-40B4-BE49-F238E27FC236}">
                <a16:creationId xmlns:a16="http://schemas.microsoft.com/office/drawing/2014/main" id="{2B8907D3-8207-AD82-A858-62C5189436A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6443" y="14645678"/>
            <a:ext cx="7911321" cy="2423960"/>
          </a:xfrm>
          <a:prstGeom prst="rect">
            <a:avLst/>
          </a:prstGeom>
        </p:spPr>
      </p:pic>
      <p:pic>
        <p:nvPicPr>
          <p:cNvPr id="138" name="Image 26" descr="/home/claude/assets/fig_orientation3d.png">
            <a:extLst>
              <a:ext uri="{FF2B5EF4-FFF2-40B4-BE49-F238E27FC236}">
                <a16:creationId xmlns:a16="http://schemas.microsoft.com/office/drawing/2014/main" id="{60110905-466A-5A1B-7B8C-4AABE46490C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22177" y="14760146"/>
            <a:ext cx="5837727" cy="2137892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66DFA403-1F1A-5ACD-166F-5B267ECA33AF}"/>
              </a:ext>
            </a:extLst>
          </p:cNvPr>
          <p:cNvSpPr txBox="1"/>
          <p:nvPr/>
        </p:nvSpPr>
        <p:spPr>
          <a:xfrm>
            <a:off x="16320801" y="8505899"/>
            <a:ext cx="2456908" cy="6879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70" b="1">
                <a:solidFill>
                  <a:srgbClr val="9E1B32"/>
                </a:solidFill>
                <a:latin typeface="Georgia"/>
              </a:rPr>
              <a:t>Gauge</a:t>
            </a:r>
          </a:p>
        </p:txBody>
      </p:sp>
      <p:pic>
        <p:nvPicPr>
          <p:cNvPr id="145" name="Picture 144" descr="image.png">
            <a:extLst>
              <a:ext uri="{FF2B5EF4-FFF2-40B4-BE49-F238E27FC236}">
                <a16:creationId xmlns:a16="http://schemas.microsoft.com/office/drawing/2014/main" id="{ECF646B7-2763-2D31-9097-A9CD0D7BCB8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9586535" y="8559951"/>
            <a:ext cx="2403529" cy="579830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80CCE108-8376-E53E-8842-767B5669731C}"/>
              </a:ext>
            </a:extLst>
          </p:cNvPr>
          <p:cNvSpPr txBox="1"/>
          <p:nvPr/>
        </p:nvSpPr>
        <p:spPr>
          <a:xfrm>
            <a:off x="16320801" y="9473921"/>
            <a:ext cx="2456908" cy="6879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70" b="1">
                <a:solidFill>
                  <a:srgbClr val="9E1B32"/>
                </a:solidFill>
                <a:latin typeface="Georgia"/>
              </a:rPr>
              <a:t>Holography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BBE8F4-DF5F-C6D1-47FD-DD0C6A4BE063}"/>
              </a:ext>
            </a:extLst>
          </p:cNvPr>
          <p:cNvSpPr txBox="1"/>
          <p:nvPr/>
        </p:nvSpPr>
        <p:spPr>
          <a:xfrm>
            <a:off x="16320801" y="10441943"/>
            <a:ext cx="2456908" cy="6879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70" b="1">
                <a:solidFill>
                  <a:srgbClr val="9E1B32"/>
                </a:solidFill>
                <a:latin typeface="Georgia"/>
              </a:rPr>
              <a:t>Rotation → shift</a:t>
            </a:r>
          </a:p>
        </p:txBody>
      </p:sp>
      <p:pic>
        <p:nvPicPr>
          <p:cNvPr id="149" name="Picture 148" descr="image.png">
            <a:extLst>
              <a:ext uri="{FF2B5EF4-FFF2-40B4-BE49-F238E27FC236}">
                <a16:creationId xmlns:a16="http://schemas.microsoft.com/office/drawing/2014/main" id="{4FEEE91B-B043-A8CC-F9F1-0D2EF998CA0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586535" y="10495995"/>
            <a:ext cx="2523850" cy="579830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09CE1D20-854C-2152-2C76-9BFA5F1A4112}"/>
              </a:ext>
            </a:extLst>
          </p:cNvPr>
          <p:cNvSpPr txBox="1"/>
          <p:nvPr/>
        </p:nvSpPr>
        <p:spPr>
          <a:xfrm>
            <a:off x="16320801" y="11409964"/>
            <a:ext cx="2456908" cy="6879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70" b="1">
                <a:solidFill>
                  <a:srgbClr val="9E1B32"/>
                </a:solidFill>
                <a:latin typeface="Georgia"/>
              </a:rPr>
              <a:t>Read α</a:t>
            </a:r>
          </a:p>
        </p:txBody>
      </p:sp>
      <p:pic>
        <p:nvPicPr>
          <p:cNvPr id="152" name="Picture 151" descr="image.png">
            <a:extLst>
              <a:ext uri="{FF2B5EF4-FFF2-40B4-BE49-F238E27FC236}">
                <a16:creationId xmlns:a16="http://schemas.microsoft.com/office/drawing/2014/main" id="{660B824F-7956-ED34-89FF-FCB9042865C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586535" y="11464016"/>
            <a:ext cx="2401718" cy="579830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E76C2CB3-206A-D48B-1297-B82B1AA8EA24}"/>
              </a:ext>
            </a:extLst>
          </p:cNvPr>
          <p:cNvSpPr txBox="1"/>
          <p:nvPr/>
        </p:nvSpPr>
        <p:spPr>
          <a:xfrm>
            <a:off x="16320801" y="12377986"/>
            <a:ext cx="2456908" cy="6879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70" b="1">
                <a:solidFill>
                  <a:srgbClr val="9E1B32"/>
                </a:solidFill>
                <a:latin typeface="Georgia"/>
              </a:rPr>
              <a:t>Polar search</a:t>
            </a:r>
          </a:p>
        </p:txBody>
      </p:sp>
      <p:pic>
        <p:nvPicPr>
          <p:cNvPr id="155" name="Picture 154" descr="image.png">
            <a:extLst>
              <a:ext uri="{FF2B5EF4-FFF2-40B4-BE49-F238E27FC236}">
                <a16:creationId xmlns:a16="http://schemas.microsoft.com/office/drawing/2014/main" id="{C5BE512C-7351-CF46-3244-A4D67C03591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586535" y="12432038"/>
            <a:ext cx="4479763" cy="579830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5CC6F619-834D-76BC-A6F9-C422A2E5D96E}"/>
              </a:ext>
            </a:extLst>
          </p:cNvPr>
          <p:cNvSpPr txBox="1"/>
          <p:nvPr/>
        </p:nvSpPr>
        <p:spPr>
          <a:xfrm>
            <a:off x="16330712" y="13259095"/>
            <a:ext cx="2456908" cy="6879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70" b="1" dirty="0">
                <a:solidFill>
                  <a:srgbClr val="9E1B32"/>
                </a:solidFill>
                <a:latin typeface="Georgia"/>
              </a:rPr>
              <a:t>Compose R</a:t>
            </a:r>
          </a:p>
        </p:txBody>
      </p:sp>
      <p:pic>
        <p:nvPicPr>
          <p:cNvPr id="158" name="Picture 157" descr="image.png">
            <a:extLst>
              <a:ext uri="{FF2B5EF4-FFF2-40B4-BE49-F238E27FC236}">
                <a16:creationId xmlns:a16="http://schemas.microsoft.com/office/drawing/2014/main" id="{2A88404C-4558-A1B3-01EA-3C1A1927801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9392136" y="13315233"/>
            <a:ext cx="4569849" cy="521824"/>
          </a:xfrm>
          <a:prstGeom prst="rect">
            <a:avLst/>
          </a:prstGeom>
        </p:spPr>
      </p:pic>
      <p:pic>
        <p:nvPicPr>
          <p:cNvPr id="159" name="Picture 158" descr="alg_xcorr.png">
            <a:extLst>
              <a:ext uri="{FF2B5EF4-FFF2-40B4-BE49-F238E27FC236}">
                <a16:creationId xmlns:a16="http://schemas.microsoft.com/office/drawing/2014/main" id="{76DBED95-3008-9511-3657-EDBB7417E4E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2907872" y="11505320"/>
            <a:ext cx="1158426" cy="508265"/>
          </a:xfrm>
          <a:prstGeom prst="rect">
            <a:avLst/>
          </a:prstGeom>
        </p:spPr>
      </p:pic>
      <p:sp>
        <p:nvSpPr>
          <p:cNvPr id="162" name="Shape 27">
            <a:extLst>
              <a:ext uri="{FF2B5EF4-FFF2-40B4-BE49-F238E27FC236}">
                <a16:creationId xmlns:a16="http://schemas.microsoft.com/office/drawing/2014/main" id="{7C49ACFE-ABB4-1596-5ADD-D83BE6319A6B}"/>
              </a:ext>
            </a:extLst>
          </p:cNvPr>
          <p:cNvSpPr/>
          <p:nvPr/>
        </p:nvSpPr>
        <p:spPr>
          <a:xfrm>
            <a:off x="645104" y="7598284"/>
            <a:ext cx="14489716" cy="6345703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5080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3" name="Shape 28">
            <a:extLst>
              <a:ext uri="{FF2B5EF4-FFF2-40B4-BE49-F238E27FC236}">
                <a16:creationId xmlns:a16="http://schemas.microsoft.com/office/drawing/2014/main" id="{6D85817A-F6C8-B3A6-9CD5-FADE6E95BE66}"/>
              </a:ext>
            </a:extLst>
          </p:cNvPr>
          <p:cNvSpPr/>
          <p:nvPr/>
        </p:nvSpPr>
        <p:spPr>
          <a:xfrm>
            <a:off x="2872104" y="7816902"/>
            <a:ext cx="9490711" cy="614227"/>
          </a:xfrm>
          <a:prstGeom prst="roundRect">
            <a:avLst>
              <a:gd name="adj" fmla="val 7200"/>
            </a:avLst>
          </a:prstGeom>
          <a:solidFill>
            <a:srgbClr val="9E1B32"/>
          </a:solidFill>
          <a:ln w="4445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98000"/>
              </a:lnSpc>
              <a:buNone/>
            </a:pPr>
            <a:endParaRPr lang="en-US" sz="1800" dirty="0"/>
          </a:p>
        </p:txBody>
      </p:sp>
      <p:pic>
        <p:nvPicPr>
          <p:cNvPr id="166" name="Image 8" descr="/home/claude/assets/hero_bulk.png">
            <a:extLst>
              <a:ext uri="{FF2B5EF4-FFF2-40B4-BE49-F238E27FC236}">
                <a16:creationId xmlns:a16="http://schemas.microsoft.com/office/drawing/2014/main" id="{5A2A8480-E94F-649D-05A9-5D8CE1411D6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687772" y="8480267"/>
            <a:ext cx="5187611" cy="5187611"/>
          </a:xfrm>
          <a:prstGeom prst="rect">
            <a:avLst/>
          </a:prstGeom>
        </p:spPr>
      </p:pic>
      <p:pic>
        <p:nvPicPr>
          <p:cNvPr id="167" name="Image 9" descr="/home/claude/assets/hero_boundary.png">
            <a:extLst>
              <a:ext uri="{FF2B5EF4-FFF2-40B4-BE49-F238E27FC236}">
                <a16:creationId xmlns:a16="http://schemas.microsoft.com/office/drawing/2014/main" id="{06414E94-28D1-34D4-4385-4E7641663E5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24855" y="8432201"/>
            <a:ext cx="4966635" cy="4966635"/>
          </a:xfrm>
          <a:prstGeom prst="rect">
            <a:avLst/>
          </a:prstGeom>
        </p:spPr>
      </p:pic>
      <p:sp>
        <p:nvSpPr>
          <p:cNvPr id="171" name="Shape 11">
            <a:extLst>
              <a:ext uri="{FF2B5EF4-FFF2-40B4-BE49-F238E27FC236}">
                <a16:creationId xmlns:a16="http://schemas.microsoft.com/office/drawing/2014/main" id="{9C3F7E42-EA38-B92B-AFB6-71964AE511C1}"/>
              </a:ext>
            </a:extLst>
          </p:cNvPr>
          <p:cNvSpPr/>
          <p:nvPr/>
        </p:nvSpPr>
        <p:spPr>
          <a:xfrm>
            <a:off x="3099499" y="12789445"/>
            <a:ext cx="2465422" cy="948253"/>
          </a:xfrm>
          <a:prstGeom prst="roundRect">
            <a:avLst>
              <a:gd name="adj" fmla="val 12821"/>
            </a:avLst>
          </a:prstGeom>
          <a:solidFill>
            <a:srgbClr val="C8102E"/>
          </a:solidFill>
          <a:ln w="31750">
            <a:solidFill>
              <a:srgbClr val="16161D"/>
            </a:solidFill>
            <a:prstDash val="solid"/>
          </a:ln>
        </p:spPr>
        <p:txBody>
          <a:bodyPr/>
          <a:lstStyle/>
          <a:p>
            <a:r>
              <a:rPr lang="en-US" sz="2580" b="1" kern="0" spc="100" dirty="0">
                <a:solidFill>
                  <a:srgbClr val="FFFFFF"/>
                </a:solidFill>
                <a:latin typeface="Comic Neue" panose="02000000000000000000" pitchFamily="2" charset="0"/>
                <a:ea typeface="Arial" pitchFamily="34" charset="-122"/>
                <a:cs typeface="APPLE CHANCERY" panose="03020702040506060504" pitchFamily="66" charset="-79"/>
              </a:rPr>
              <a:t>  THE BULK             </a:t>
            </a:r>
          </a:p>
          <a:p>
            <a:r>
              <a:rPr lang="en-US" sz="2580" b="1" kern="0" spc="100" dirty="0">
                <a:solidFill>
                  <a:srgbClr val="FFFFFF"/>
                </a:solidFill>
                <a:latin typeface="Comic Neue" panose="02000000000000000000" pitchFamily="2" charset="0"/>
                <a:ea typeface="Arial" pitchFamily="34" charset="-122"/>
                <a:cs typeface="APPLE CHANCERY" panose="03020702040506060504" pitchFamily="66" charset="-79"/>
              </a:rPr>
              <a:t>   Rotation</a:t>
            </a:r>
            <a:endParaRPr lang="en-US" sz="4800" dirty="0">
              <a:latin typeface="Comic Neue" panose="02000000000000000000" pitchFamily="2" charset="0"/>
              <a:cs typeface="Apple Chancery" panose="03020702040506060504" pitchFamily="66" charset="-79"/>
            </a:endParaRPr>
          </a:p>
          <a:p>
            <a:endParaRPr lang="en-CY" dirty="0"/>
          </a:p>
        </p:txBody>
      </p:sp>
      <p:sp>
        <p:nvSpPr>
          <p:cNvPr id="172" name="Shape 11">
            <a:extLst>
              <a:ext uri="{FF2B5EF4-FFF2-40B4-BE49-F238E27FC236}">
                <a16:creationId xmlns:a16="http://schemas.microsoft.com/office/drawing/2014/main" id="{A6625DF3-DA58-941C-9980-69B1ECAA57FD}"/>
              </a:ext>
            </a:extLst>
          </p:cNvPr>
          <p:cNvSpPr/>
          <p:nvPr/>
        </p:nvSpPr>
        <p:spPr>
          <a:xfrm>
            <a:off x="10282816" y="13104528"/>
            <a:ext cx="2650109" cy="561261"/>
          </a:xfrm>
          <a:prstGeom prst="roundRect">
            <a:avLst>
              <a:gd name="adj" fmla="val 12821"/>
            </a:avLst>
          </a:prstGeom>
          <a:solidFill>
            <a:srgbClr val="C8102E"/>
          </a:solidFill>
          <a:ln w="31750">
            <a:solidFill>
              <a:srgbClr val="16161D"/>
            </a:solidFill>
            <a:prstDash val="solid"/>
          </a:ln>
        </p:spPr>
        <p:txBody>
          <a:bodyPr/>
          <a:lstStyle/>
          <a:p>
            <a:r>
              <a:rPr lang="en-US" sz="2580" b="1" kern="0" spc="100" dirty="0">
                <a:solidFill>
                  <a:srgbClr val="FFFFFF"/>
                </a:solidFill>
                <a:latin typeface="Comic Neue" panose="02000000000000000000" pitchFamily="2" charset="0"/>
                <a:ea typeface="Arial" pitchFamily="34" charset="-122"/>
                <a:cs typeface="APPLE CHANCERY" panose="03020702040506060504" pitchFamily="66" charset="-79"/>
              </a:rPr>
              <a:t>  Simple Shift!</a:t>
            </a:r>
            <a:endParaRPr lang="en-US" sz="4800" dirty="0">
              <a:latin typeface="Comic Neue" panose="02000000000000000000" pitchFamily="2" charset="0"/>
              <a:cs typeface="Apple Chancery" panose="03020702040506060504" pitchFamily="66" charset="-79"/>
            </a:endParaRPr>
          </a:p>
        </p:txBody>
      </p:sp>
      <p:sp>
        <p:nvSpPr>
          <p:cNvPr id="174" name="Right Arrow 173">
            <a:extLst>
              <a:ext uri="{FF2B5EF4-FFF2-40B4-BE49-F238E27FC236}">
                <a16:creationId xmlns:a16="http://schemas.microsoft.com/office/drawing/2014/main" id="{31A7AB50-52F7-AB10-0CCE-7D665494B4BA}"/>
              </a:ext>
            </a:extLst>
          </p:cNvPr>
          <p:cNvSpPr/>
          <p:nvPr/>
        </p:nvSpPr>
        <p:spPr>
          <a:xfrm>
            <a:off x="6761117" y="10100316"/>
            <a:ext cx="2378238" cy="11815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/>
          </a:p>
        </p:txBody>
      </p:sp>
      <p:pic>
        <p:nvPicPr>
          <p:cNvPr id="175" name="Image 13" descr="/home/claude/assets/holo_origin.png">
            <a:extLst>
              <a:ext uri="{FF2B5EF4-FFF2-40B4-BE49-F238E27FC236}">
                <a16:creationId xmlns:a16="http://schemas.microsoft.com/office/drawing/2014/main" id="{7228ECA9-4721-69CB-7FAE-C854C612A098}"/>
              </a:ext>
            </a:extLst>
          </p:cNvPr>
          <p:cNvPicPr>
            <a:picLocks noChangeAspect="1"/>
          </p:cNvPicPr>
          <p:nvPr/>
        </p:nvPicPr>
        <p:blipFill rotWithShape="1">
          <a:blip r:embed="rId34"/>
          <a:srcRect r="60215" b="2616"/>
          <a:stretch/>
        </p:blipFill>
        <p:spPr>
          <a:xfrm>
            <a:off x="26547201" y="14670620"/>
            <a:ext cx="2320877" cy="2461450"/>
          </a:xfrm>
          <a:prstGeom prst="rect">
            <a:avLst/>
          </a:prstGeom>
        </p:spPr>
      </p:pic>
      <p:sp>
        <p:nvSpPr>
          <p:cNvPr id="177" name="AutoShape 4">
            <a:extLst>
              <a:ext uri="{FF2B5EF4-FFF2-40B4-BE49-F238E27FC236}">
                <a16:creationId xmlns:a16="http://schemas.microsoft.com/office/drawing/2014/main" id="{5F5134B3-EE9D-450D-5806-6809F7FB59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41985" y="10389529"/>
            <a:ext cx="163794" cy="16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Y"/>
          </a:p>
        </p:txBody>
      </p:sp>
      <p:sp>
        <p:nvSpPr>
          <p:cNvPr id="178" name="AutoShape 6">
            <a:extLst>
              <a:ext uri="{FF2B5EF4-FFF2-40B4-BE49-F238E27FC236}">
                <a16:creationId xmlns:a16="http://schemas.microsoft.com/office/drawing/2014/main" id="{78C31A57-CFBE-7E79-DEAF-0BCFB53A5A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147673" y="10471426"/>
            <a:ext cx="163794" cy="16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Y"/>
          </a:p>
        </p:txBody>
      </p:sp>
      <p:pic>
        <p:nvPicPr>
          <p:cNvPr id="180" name="Picture 179">
            <a:extLst>
              <a:ext uri="{FF2B5EF4-FFF2-40B4-BE49-F238E27FC236}">
                <a16:creationId xmlns:a16="http://schemas.microsoft.com/office/drawing/2014/main" id="{C53661E0-CC72-B31F-918F-DF9C3015DBC6}"/>
              </a:ext>
            </a:extLst>
          </p:cNvPr>
          <p:cNvPicPr>
            <a:picLocks noChangeAspect="1"/>
          </p:cNvPicPr>
          <p:nvPr/>
        </p:nvPicPr>
        <p:blipFill rotWithShape="1">
          <a:blip r:embed="rId35"/>
          <a:srcRect l="2555" t="3981" r="2212"/>
          <a:stretch/>
        </p:blipFill>
        <p:spPr>
          <a:xfrm>
            <a:off x="23486671" y="4229896"/>
            <a:ext cx="5091881" cy="2807598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3C145035-E5C5-20F3-672C-0EE5FF9BBC4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060000">
            <a:off x="17132628" y="2250743"/>
            <a:ext cx="1818382" cy="1818382"/>
          </a:xfrm>
          <a:prstGeom prst="rect">
            <a:avLst/>
          </a:prstGeom>
        </p:spPr>
      </p:pic>
      <p:sp>
        <p:nvSpPr>
          <p:cNvPr id="187" name="Shape 19">
            <a:extLst>
              <a:ext uri="{FF2B5EF4-FFF2-40B4-BE49-F238E27FC236}">
                <a16:creationId xmlns:a16="http://schemas.microsoft.com/office/drawing/2014/main" id="{D5E2B0B0-29BC-89C6-2338-C217F933CA30}"/>
              </a:ext>
            </a:extLst>
          </p:cNvPr>
          <p:cNvSpPr/>
          <p:nvPr/>
        </p:nvSpPr>
        <p:spPr>
          <a:xfrm>
            <a:off x="9139355" y="3656083"/>
            <a:ext cx="11414218" cy="565089"/>
          </a:xfrm>
          <a:prstGeom prst="roundRect">
            <a:avLst>
              <a:gd name="adj" fmla="val 7826"/>
            </a:avLst>
          </a:prstGeom>
          <a:solidFill>
            <a:srgbClr val="9E1B32"/>
          </a:solidFill>
          <a:ln w="4445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8" name="Image 11" descr="/home/claude/assets/h_sh.png">
            <a:extLst>
              <a:ext uri="{FF2B5EF4-FFF2-40B4-BE49-F238E27FC236}">
                <a16:creationId xmlns:a16="http://schemas.microsoft.com/office/drawing/2014/main" id="{AE4A750E-3EAA-C0E4-7426-5D632C633B0F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2461808" y="3688241"/>
            <a:ext cx="4267804" cy="632408"/>
          </a:xfrm>
          <a:prstGeom prst="rect">
            <a:avLst/>
          </a:prstGeom>
        </p:spPr>
      </p:pic>
      <p:pic>
        <p:nvPicPr>
          <p:cNvPr id="191" name="Picture 190" descr="card_hooft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352349" y="6048991"/>
            <a:ext cx="1076126" cy="1425007"/>
          </a:xfrm>
          <a:prstGeom prst="rect">
            <a:avLst/>
          </a:prstGeom>
        </p:spPr>
      </p:pic>
      <p:pic>
        <p:nvPicPr>
          <p:cNvPr id="192" name="Picture 191" descr="card_susskin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2788857" y="6048991"/>
            <a:ext cx="1076126" cy="1425007"/>
          </a:xfrm>
          <a:prstGeom prst="rect">
            <a:avLst/>
          </a:prstGeom>
        </p:spPr>
      </p:pic>
      <p:pic>
        <p:nvPicPr>
          <p:cNvPr id="193" name="Picture 192" descr="num_1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5496440" y="8604175"/>
            <a:ext cx="491382" cy="491382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25969649" y="8691037"/>
            <a:ext cx="280087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i="1" dirty="0">
                <a:solidFill>
                  <a:srgbClr val="62626E"/>
                </a:solidFill>
                <a:latin typeface="Comic Neue" panose="02000000000000000000" pitchFamily="2" charset="0"/>
              </a:rPr>
              <a:t>quadrupole, β</a:t>
            </a:r>
            <a:r>
              <a:rPr lang="tr-TR" sz="2400" i="1" dirty="0">
                <a:solidFill>
                  <a:srgbClr val="62626E"/>
                </a:solidFill>
                <a:latin typeface="Comic Neue" panose="02000000000000000000" pitchFamily="2" charset="0"/>
              </a:rPr>
              <a:t> </a:t>
            </a:r>
            <a:r>
              <a:rPr lang="tr-TR" sz="2400" i="1" dirty="0" err="1">
                <a:solidFill>
                  <a:srgbClr val="62626E"/>
                </a:solidFill>
                <a:latin typeface="Comic Neue" panose="02000000000000000000" pitchFamily="2" charset="0"/>
              </a:rPr>
              <a:t>small</a:t>
            </a:r>
            <a:endParaRPr sz="2400" i="1" dirty="0">
              <a:solidFill>
                <a:srgbClr val="62626E"/>
              </a:solidFill>
              <a:latin typeface="Comic Neue" panose="02000000000000000000" pitchFamily="2" charset="0"/>
            </a:endParaRPr>
          </a:p>
        </p:txBody>
      </p:sp>
      <p:pic>
        <p:nvPicPr>
          <p:cNvPr id="195" name="Picture 194" descr="num_2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5496440" y="9572197"/>
            <a:ext cx="491382" cy="491382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25658356" y="9623581"/>
            <a:ext cx="442243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i="1" dirty="0">
                <a:solidFill>
                  <a:srgbClr val="62626E"/>
                </a:solidFill>
                <a:latin typeface="Comic Neue" panose="02000000000000000000" pitchFamily="2" charset="0"/>
              </a:rPr>
              <a:t>boundary hologram H[y]</a:t>
            </a:r>
          </a:p>
        </p:txBody>
      </p:sp>
      <p:pic>
        <p:nvPicPr>
          <p:cNvPr id="197" name="Picture 196" descr="num_3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5496440" y="10540219"/>
            <a:ext cx="491382" cy="491382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25316183" y="10591284"/>
            <a:ext cx="457526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i="1" dirty="0">
                <a:solidFill>
                  <a:srgbClr val="62626E"/>
                </a:solidFill>
                <a:latin typeface="Comic Neue" panose="02000000000000000000" pitchFamily="2" charset="0"/>
              </a:rPr>
              <a:t>Fourier shift on the boundary</a:t>
            </a:r>
          </a:p>
        </p:txBody>
      </p:sp>
      <p:pic>
        <p:nvPicPr>
          <p:cNvPr id="199" name="Picture 198" descr="num_4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5496440" y="11508241"/>
            <a:ext cx="491382" cy="491382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25927767" y="11523099"/>
            <a:ext cx="345718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i="1" dirty="0">
                <a:solidFill>
                  <a:srgbClr val="62626E"/>
                </a:solidFill>
                <a:latin typeface="Comic Neue" panose="02000000000000000000" pitchFamily="2" charset="0"/>
              </a:rPr>
              <a:t>FFT phase correlation</a:t>
            </a:r>
          </a:p>
        </p:txBody>
      </p:sp>
      <p:pic>
        <p:nvPicPr>
          <p:cNvPr id="201" name="Picture 200" descr="num_5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5496440" y="12476263"/>
            <a:ext cx="491382" cy="491382"/>
          </a:xfrm>
          <a:prstGeom prst="rect">
            <a:avLst/>
          </a:prstGeom>
        </p:spPr>
      </p:pic>
      <p:sp>
        <p:nvSpPr>
          <p:cNvPr id="202" name="TextBox 201"/>
          <p:cNvSpPr txBox="1"/>
          <p:nvPr/>
        </p:nvSpPr>
        <p:spPr>
          <a:xfrm>
            <a:off x="25927767" y="12491121"/>
            <a:ext cx="280087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i="1" dirty="0">
                <a:solidFill>
                  <a:srgbClr val="62626E"/>
                </a:solidFill>
                <a:latin typeface="Comic Neue" panose="02000000000000000000" pitchFamily="2" charset="0"/>
              </a:rPr>
              <a:t>1-D in β, </a:t>
            </a:r>
            <a:r>
              <a:rPr sz="2400" i="1" dirty="0" err="1">
                <a:solidFill>
                  <a:srgbClr val="62626E"/>
                </a:solidFill>
                <a:latin typeface="Comic Neue" panose="02000000000000000000" pitchFamily="2" charset="0"/>
              </a:rPr>
              <a:t>γ</a:t>
            </a:r>
            <a:r>
              <a:rPr sz="2400" i="1" dirty="0">
                <a:solidFill>
                  <a:srgbClr val="62626E"/>
                </a:solidFill>
                <a:latin typeface="Comic Neue" panose="02000000000000000000" pitchFamily="2" charset="0"/>
              </a:rPr>
              <a:t> per trial</a:t>
            </a:r>
          </a:p>
        </p:txBody>
      </p:sp>
      <p:pic>
        <p:nvPicPr>
          <p:cNvPr id="203" name="Picture 202" descr="num_6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5545727" y="13395384"/>
            <a:ext cx="491382" cy="491382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26124481" y="13360773"/>
            <a:ext cx="280087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i="1" dirty="0">
                <a:solidFill>
                  <a:srgbClr val="62626E"/>
                </a:solidFill>
                <a:latin typeface="Comic Neue" panose="02000000000000000000" pitchFamily="2" charset="0"/>
              </a:rPr>
              <a:t>undo the gauge</a:t>
            </a:r>
          </a:p>
        </p:txBody>
      </p:sp>
      <p:sp>
        <p:nvSpPr>
          <p:cNvPr id="205" name="Down Arrow 204"/>
          <p:cNvSpPr/>
          <p:nvPr/>
        </p:nvSpPr>
        <p:spPr>
          <a:xfrm>
            <a:off x="15667654" y="9176635"/>
            <a:ext cx="226036" cy="314484"/>
          </a:xfrm>
          <a:prstGeom prst="downArrow">
            <a:avLst/>
          </a:prstGeom>
          <a:solidFill>
            <a:srgbClr val="9E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Down Arrow 205"/>
          <p:cNvSpPr/>
          <p:nvPr/>
        </p:nvSpPr>
        <p:spPr>
          <a:xfrm>
            <a:off x="15667654" y="10144657"/>
            <a:ext cx="226036" cy="314484"/>
          </a:xfrm>
          <a:prstGeom prst="downArrow">
            <a:avLst/>
          </a:prstGeom>
          <a:solidFill>
            <a:srgbClr val="9E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Down Arrow 206"/>
          <p:cNvSpPr/>
          <p:nvPr/>
        </p:nvSpPr>
        <p:spPr>
          <a:xfrm>
            <a:off x="15667654" y="11112679"/>
            <a:ext cx="226036" cy="314484"/>
          </a:xfrm>
          <a:prstGeom prst="downArrow">
            <a:avLst/>
          </a:prstGeom>
          <a:solidFill>
            <a:srgbClr val="9E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Down Arrow 207"/>
          <p:cNvSpPr/>
          <p:nvPr/>
        </p:nvSpPr>
        <p:spPr>
          <a:xfrm>
            <a:off x="15667654" y="12080700"/>
            <a:ext cx="226036" cy="314484"/>
          </a:xfrm>
          <a:prstGeom prst="downArrow">
            <a:avLst/>
          </a:prstGeom>
          <a:solidFill>
            <a:srgbClr val="9E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Down Arrow 208"/>
          <p:cNvSpPr/>
          <p:nvPr/>
        </p:nvSpPr>
        <p:spPr>
          <a:xfrm>
            <a:off x="15667654" y="13048722"/>
            <a:ext cx="226036" cy="314484"/>
          </a:xfrm>
          <a:prstGeom prst="downArrow">
            <a:avLst/>
          </a:prstGeom>
          <a:solidFill>
            <a:srgbClr val="9E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0" name="Picture 209" descr="arrow_big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851732" y="8861757"/>
            <a:ext cx="1621559" cy="1621559"/>
          </a:xfrm>
          <a:prstGeom prst="rect">
            <a:avLst/>
          </a:prstGeom>
        </p:spPr>
      </p:pic>
      <p:sp>
        <p:nvSpPr>
          <p:cNvPr id="211" name="TextBox 210"/>
          <p:cNvSpPr txBox="1"/>
          <p:nvPr/>
        </p:nvSpPr>
        <p:spPr>
          <a:xfrm rot="21240000">
            <a:off x="12235840" y="8980035"/>
            <a:ext cx="2112941" cy="6879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50" b="1" dirty="0">
                <a:solidFill>
                  <a:srgbClr val="9E1B32"/>
                </a:solidFill>
                <a:latin typeface="Comic Neue"/>
              </a:rPr>
              <a:t>…and it just SLIDES!</a:t>
            </a:r>
          </a:p>
        </p:txBody>
      </p:sp>
      <p:sp>
        <p:nvSpPr>
          <p:cNvPr id="212" name="TextBox 211"/>
          <p:cNvSpPr txBox="1"/>
          <p:nvPr/>
        </p:nvSpPr>
        <p:spPr>
          <a:xfrm rot="21240000">
            <a:off x="877561" y="8983702"/>
            <a:ext cx="3439672" cy="46681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30" b="1">
                <a:solidFill>
                  <a:srgbClr val="9E1B32"/>
                </a:solidFill>
                <a:latin typeface="Comic Neue"/>
              </a:rPr>
              <a:t>give it a 3-D TWIST!</a:t>
            </a:r>
          </a:p>
        </p:txBody>
      </p:sp>
      <p:sp>
        <p:nvSpPr>
          <p:cNvPr id="213" name="TextBox 212"/>
          <p:cNvSpPr txBox="1"/>
          <p:nvPr/>
        </p:nvSpPr>
        <p:spPr>
          <a:xfrm rot="21180000">
            <a:off x="23264543" y="16123391"/>
            <a:ext cx="3978615" cy="349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70" b="1" dirty="0">
                <a:solidFill>
                  <a:srgbClr val="9E1B32"/>
                </a:solidFill>
                <a:latin typeface="Comic Neue"/>
              </a:rPr>
              <a:t>even BLACK HOLES agree!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53E1CC-DDF2-D2C2-6A20-80C969114E5B}"/>
              </a:ext>
            </a:extLst>
          </p:cNvPr>
          <p:cNvPicPr>
            <a:picLocks noChangeAspect="1"/>
          </p:cNvPicPr>
          <p:nvPr/>
        </p:nvPicPr>
        <p:blipFill rotWithShape="1">
          <a:blip r:embed="rId47"/>
          <a:srcRect l="1732" t="7847" r="3224" b="11544"/>
          <a:stretch/>
        </p:blipFill>
        <p:spPr>
          <a:xfrm>
            <a:off x="3946853" y="364740"/>
            <a:ext cx="13404560" cy="2019865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E5DDC87D-D075-71BB-49A5-A11DB8BE668D}"/>
              </a:ext>
            </a:extLst>
          </p:cNvPr>
          <p:cNvSpPr/>
          <p:nvPr/>
        </p:nvSpPr>
        <p:spPr>
          <a:xfrm>
            <a:off x="528796" y="2302987"/>
            <a:ext cx="3243119" cy="491382"/>
          </a:xfrm>
          <a:prstGeom prst="roundRect">
            <a:avLst>
              <a:gd name="adj" fmla="val 9000"/>
            </a:avLst>
          </a:prstGeom>
          <a:solidFill>
            <a:srgbClr val="9E1B32"/>
          </a:solidFill>
          <a:ln w="44450">
            <a:solidFill>
              <a:srgbClr val="16161D"/>
            </a:solidFill>
            <a:prstDash val="solid"/>
          </a:ln>
          <a:effectLst>
            <a:outerShdw blurRad="127000" dist="63500" dir="5400000" algn="bl" rotWithShape="0">
              <a:srgbClr val="16161D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Image 4" descr="/home/claude/assets/h_punch.png">
            <a:extLst>
              <a:ext uri="{FF2B5EF4-FFF2-40B4-BE49-F238E27FC236}">
                <a16:creationId xmlns:a16="http://schemas.microsoft.com/office/drawing/2014/main" id="{8999A663-D231-4407-3AA4-77C9E6D714F8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99856" y="2293334"/>
            <a:ext cx="3076693" cy="648900"/>
          </a:xfrm>
          <a:prstGeom prst="rect">
            <a:avLst/>
          </a:prstGeom>
        </p:spPr>
      </p:pic>
      <p:pic>
        <p:nvPicPr>
          <p:cNvPr id="33" name="Picture 32" descr="eq_H.png">
            <a:extLst>
              <a:ext uri="{FF2B5EF4-FFF2-40B4-BE49-F238E27FC236}">
                <a16:creationId xmlns:a16="http://schemas.microsoft.com/office/drawing/2014/main" id="{98186B64-5CF1-DDEA-BE3C-D870D16D1C30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9238499" y="9398847"/>
            <a:ext cx="3264301" cy="731138"/>
          </a:xfrm>
          <a:prstGeom prst="rect">
            <a:avLst/>
          </a:prstGeom>
        </p:spPr>
      </p:pic>
      <p:pic>
        <p:nvPicPr>
          <p:cNvPr id="214" name="Picture 213" descr="title_algorithm_crop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1036064" y="7731252"/>
            <a:ext cx="2770048" cy="512064"/>
          </a:xfrm>
          <a:prstGeom prst="rect">
            <a:avLst/>
          </a:prstGeom>
        </p:spPr>
      </p:pic>
      <p:sp>
        <p:nvSpPr>
          <p:cNvPr id="215" name="TextBox 214"/>
          <p:cNvSpPr txBox="1"/>
          <p:nvPr/>
        </p:nvSpPr>
        <p:spPr>
          <a:xfrm>
            <a:off x="2871216" y="7818120"/>
            <a:ext cx="9491472" cy="6126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  <a:latin typeface="Bangers"/>
                <a:cs typeface="Bangers"/>
              </a:rPr>
              <a:t>THE BULK-BOUNDARY MAP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16230600" y="9336024"/>
            <a:ext cx="13395960" cy="0"/>
          </a:xfrm>
          <a:prstGeom prst="line">
            <a:avLst/>
          </a:prstGeom>
          <a:ln w="12700">
            <a:solidFill>
              <a:srgbClr val="CBC2C6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6230600" y="9352483"/>
            <a:ext cx="13395960" cy="0"/>
          </a:xfrm>
          <a:prstGeom prst="line">
            <a:avLst/>
          </a:prstGeom>
          <a:ln w="9525">
            <a:solidFill>
              <a:srgbClr val="FFFF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6230600" y="10296144"/>
            <a:ext cx="13395960" cy="0"/>
          </a:xfrm>
          <a:prstGeom prst="line">
            <a:avLst/>
          </a:prstGeom>
          <a:ln w="12700">
            <a:solidFill>
              <a:srgbClr val="CBC2C6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6230600" y="10312603"/>
            <a:ext cx="13395960" cy="0"/>
          </a:xfrm>
          <a:prstGeom prst="line">
            <a:avLst/>
          </a:prstGeom>
          <a:ln w="9525">
            <a:solidFill>
              <a:srgbClr val="FFFF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6230600" y="11265408"/>
            <a:ext cx="13395960" cy="0"/>
          </a:xfrm>
          <a:prstGeom prst="line">
            <a:avLst/>
          </a:prstGeom>
          <a:ln w="12700">
            <a:solidFill>
              <a:srgbClr val="CBC2C6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6230600" y="11281867"/>
            <a:ext cx="13395960" cy="0"/>
          </a:xfrm>
          <a:prstGeom prst="line">
            <a:avLst/>
          </a:prstGeom>
          <a:ln w="9525">
            <a:solidFill>
              <a:srgbClr val="FFFF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16230600" y="12234672"/>
            <a:ext cx="13395960" cy="0"/>
          </a:xfrm>
          <a:prstGeom prst="line">
            <a:avLst/>
          </a:prstGeom>
          <a:ln w="12700">
            <a:solidFill>
              <a:srgbClr val="CBC2C6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6230600" y="12251131"/>
            <a:ext cx="13395960" cy="0"/>
          </a:xfrm>
          <a:prstGeom prst="line">
            <a:avLst/>
          </a:prstGeom>
          <a:ln w="9525">
            <a:solidFill>
              <a:srgbClr val="FFFF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6230600" y="13203936"/>
            <a:ext cx="13395960" cy="0"/>
          </a:xfrm>
          <a:prstGeom prst="line">
            <a:avLst/>
          </a:prstGeom>
          <a:ln w="12700">
            <a:solidFill>
              <a:srgbClr val="CBC2C6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6230600" y="13220395"/>
            <a:ext cx="13395960" cy="0"/>
          </a:xfrm>
          <a:prstGeom prst="line">
            <a:avLst/>
          </a:prstGeom>
          <a:ln w="9525">
            <a:solidFill>
              <a:srgbClr val="FFFF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224">
            <a:extLst>
              <a:ext uri="{FF2B5EF4-FFF2-40B4-BE49-F238E27FC236}">
                <a16:creationId xmlns:a16="http://schemas.microsoft.com/office/drawing/2014/main" id="{E1C16B21-027B-B0CE-1EAD-A3559B51162E}"/>
              </a:ext>
            </a:extLst>
          </p:cNvPr>
          <p:cNvCxnSpPr/>
          <p:nvPr/>
        </p:nvCxnSpPr>
        <p:spPr>
          <a:xfrm>
            <a:off x="16383000" y="13372795"/>
            <a:ext cx="13395960" cy="0"/>
          </a:xfrm>
          <a:prstGeom prst="line">
            <a:avLst/>
          </a:prstGeom>
          <a:ln w="9525">
            <a:solidFill>
              <a:srgbClr val="FFFF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224">
            <a:extLst>
              <a:ext uri="{FF2B5EF4-FFF2-40B4-BE49-F238E27FC236}">
                <a16:creationId xmlns:a16="http://schemas.microsoft.com/office/drawing/2014/main" id="{F96A4D8A-71ED-434A-FA5F-C2665E5187A6}"/>
              </a:ext>
            </a:extLst>
          </p:cNvPr>
          <p:cNvCxnSpPr/>
          <p:nvPr/>
        </p:nvCxnSpPr>
        <p:spPr>
          <a:xfrm>
            <a:off x="16535400" y="13525195"/>
            <a:ext cx="13395960" cy="0"/>
          </a:xfrm>
          <a:prstGeom prst="line">
            <a:avLst/>
          </a:prstGeom>
          <a:ln w="9525">
            <a:solidFill>
              <a:srgbClr val="FFFF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 descr="eq_wtaper.png">
            <a:extLst>
              <a:ext uri="{FF2B5EF4-FFF2-40B4-BE49-F238E27FC236}">
                <a16:creationId xmlns:a16="http://schemas.microsoft.com/office/drawing/2014/main" id="{2A430851-37CE-E88A-2B03-69189791D270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2949657" y="9693615"/>
            <a:ext cx="1284099" cy="2833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4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8102E"/>
      </a:accent1>
      <a:accent2>
        <a:srgbClr val="9E1B3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427</Words>
  <Application>Microsoft Macintosh PowerPoint</Application>
  <PresentationFormat>Custom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American Typewriter</vt:lpstr>
      <vt:lpstr>Arial</vt:lpstr>
      <vt:lpstr>Bangers</vt:lpstr>
      <vt:lpstr>Calibri</vt:lpstr>
      <vt:lpstr>Comic Neue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18</cp:revision>
  <dcterms:created xsi:type="dcterms:W3CDTF">2026-06-13T20:46:12Z</dcterms:created>
  <dcterms:modified xsi:type="dcterms:W3CDTF">2026-06-17T04:57:03Z</dcterms:modified>
</cp:coreProperties>
</file>